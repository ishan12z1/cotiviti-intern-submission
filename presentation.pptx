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0" r:id="rId5"/>
    <p:sldId id="261" r:id="rId6"/>
    <p:sldId id="262" r:id="rId7"/>
    <p:sldId id="265" r:id="rId8"/>
    <p:sldId id="266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8B8D"/>
    <a:srgbClr val="1E27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3393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1051560"/>
            <a:ext cx="3017520" cy="3017520"/>
          </a:xfrm>
          <a:prstGeom prst="ellipse">
            <a:avLst/>
          </a:prstGeom>
          <a:solidFill>
            <a:srgbClr val="16224F"/>
          </a:solidFill>
          <a:ln w="19050">
            <a:solidFill>
              <a:srgbClr val="0F8B8D"/>
            </a:solidFill>
            <a:prstDash val="solid"/>
          </a:ln>
        </p:spPr>
      </p:sp>
      <p:pic>
        <p:nvPicPr>
          <p:cNvPr id="3" name="Image 0" descr="/home/claude/deck/icons/rout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0" y="201168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COTIVITI AI/ML INTERN ASSESSMENT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13232" y="187452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Policy-to-Rule Claims</a:t>
            </a:r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Assistant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31520" y="36118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written healthcare policy into executable, auditable claim-review logic.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73152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Ishan Sharma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Topic 3: Content Management in Health Care   |   June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Is Written for People. Claim Review Needs Structured Logic.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160520" cy="2331720"/>
          </a:xfrm>
          <a:prstGeom prst="roundRect">
            <a:avLst>
              <a:gd name="adj" fmla="val 3137"/>
            </a:avLst>
          </a:prstGeom>
          <a:solidFill>
            <a:srgbClr val="002060"/>
          </a:solidFill>
          <a:ln/>
          <a:effectLst>
            <a:outerShdw blurRad="101600" dist="38100" dir="5400000" algn="bl" rotWithShape="0">
              <a:srgbClr val="1B254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167128"/>
            <a:ext cx="566928" cy="566928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6" name="Image 0" descr="/home/claude/deck/icons/al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261" y="2240829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2807208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$28.83B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1051560" y="3502152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Fee-for-Service</a:t>
            </a:r>
            <a:endParaRPr lang="en-US" sz="1250" dirty="0">
              <a:solidFill>
                <a:schemeClr val="bg1"/>
              </a:solidFill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improper payments, FY 2025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5349240" y="1874520"/>
            <a:ext cx="4160520" cy="2331720"/>
          </a:xfrm>
          <a:prstGeom prst="roundRect">
            <a:avLst>
              <a:gd name="adj" fmla="val 3137"/>
            </a:avLst>
          </a:prstGeom>
          <a:solidFill>
            <a:srgbClr val="002060"/>
          </a:solidFill>
          <a:ln/>
          <a:effectLst>
            <a:outerShdw blurRad="101600" dist="38100" dir="5400000" algn="bl" rotWithShape="0">
              <a:srgbClr val="1B254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69280" y="2167128"/>
            <a:ext cx="566928" cy="566928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11" name="Image 1" descr="/home/claude/deck/icons/al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981" y="2240829"/>
            <a:ext cx="419527" cy="419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2807208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$37.39B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13" name="Text 9"/>
          <p:cNvSpPr/>
          <p:nvPr/>
        </p:nvSpPr>
        <p:spPr>
          <a:xfrm>
            <a:off x="5669280" y="3502152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Medicaid improper</a:t>
            </a:r>
            <a:endParaRPr lang="en-US" sz="1250" dirty="0">
              <a:solidFill>
                <a:schemeClr val="bg1"/>
              </a:solidFill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payments, FY 2025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14" name="Text 10"/>
          <p:cNvSpPr/>
          <p:nvPr/>
        </p:nvSpPr>
        <p:spPr>
          <a:xfrm>
            <a:off x="798950" y="4711058"/>
            <a:ext cx="6630550" cy="83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of these payments trace back to insufficient documentation, missing administrative steps, or claims that simply don’t meet program requirements, the natural-language-to-structured-logic gap this project addresses.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731520" y="6263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Centers for Medicare &amp; Medicaid Services, Fiscal Year 2025 Improper Payments Fact Sheet (2026).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9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 Is Already Moving Toward Machine-Readable Policy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507492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54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3317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deck/icons/sca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981" y="2405421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306324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CMS Interoperability &amp; Prior Authorization Final Rule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097280" y="3794760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impacted payers to support APIs for patient access, provider access, payer-to-payer exchange, and prior authorization, with major requirements beginning in 2027.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965960"/>
            <a:ext cx="507492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54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23317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deck/icons/diagram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3101" y="2405421"/>
            <a:ext cx="419527" cy="419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29400" y="306324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900"/>
              </a:lnSpc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HL7 Da Vinci Implementation Guides</a:t>
            </a:r>
          </a:p>
        </p:txBody>
      </p:sp>
      <p:sp>
        <p:nvSpPr>
          <p:cNvPr id="13" name="Text 9"/>
          <p:cNvSpPr/>
          <p:nvPr/>
        </p:nvSpPr>
        <p:spPr>
          <a:xfrm>
            <a:off x="6629400" y="3773300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00"/>
              </a:lnSpc>
            </a:pPr>
            <a:r>
              <a:rPr lang="en-US" sz="12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Requirements Discovery, Documentation Templates &amp; Rules, and Prior Authorization Support define FHIR-based workflows that help payers share coverage rules, documentation needs, and prior-authorization requirements with providers.</a:t>
            </a:r>
          </a:p>
        </p:txBody>
      </p:sp>
      <p:sp>
        <p:nvSpPr>
          <p:cNvPr id="14" name="Text 10"/>
          <p:cNvSpPr/>
          <p:nvPr/>
        </p:nvSpPr>
        <p:spPr>
          <a:xfrm>
            <a:off x="731520" y="53492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prior-authorization platforms, claim editing systems, and payment policy tools still depend on people manually translating written policy into rules, the upstream bottleneck this project targets.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OPTIONS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9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Project Direction: Policy-to-Rule Claims Compliance Assistant</a:t>
            </a:r>
          </a:p>
        </p:txBody>
      </p:sp>
      <p:sp>
        <p:nvSpPr>
          <p:cNvPr id="21" name="Text 16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4" name="Shape 19">
            <a:extLst>
              <a:ext uri="{FF2B5EF4-FFF2-40B4-BE49-F238E27FC236}">
                <a16:creationId xmlns:a16="http://schemas.microsoft.com/office/drawing/2014/main" id="{72A4F307-78CA-4F61-FD9D-C3472FB530B1}"/>
              </a:ext>
            </a:extLst>
          </p:cNvPr>
          <p:cNvSpPr/>
          <p:nvPr/>
        </p:nvSpPr>
        <p:spPr>
          <a:xfrm>
            <a:off x="758952" y="2791969"/>
            <a:ext cx="5433894" cy="2176845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B2540">
                <a:alpha val="12000"/>
              </a:srgbClr>
            </a:outerShdw>
          </a:effectLst>
        </p:spPr>
      </p:sp>
      <p:sp>
        <p:nvSpPr>
          <p:cNvPr id="25" name="Shape 20">
            <a:extLst>
              <a:ext uri="{FF2B5EF4-FFF2-40B4-BE49-F238E27FC236}">
                <a16:creationId xmlns:a16="http://schemas.microsoft.com/office/drawing/2014/main" id="{1A917369-96AB-7704-CC6D-ACBC5613813D}"/>
              </a:ext>
            </a:extLst>
          </p:cNvPr>
          <p:cNvSpPr/>
          <p:nvPr/>
        </p:nvSpPr>
        <p:spPr>
          <a:xfrm>
            <a:off x="1078992" y="3084578"/>
            <a:ext cx="502920" cy="50292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26" name="Image 5" descr="/home/claude/deck/icons/book_white.png">
            <a:extLst>
              <a:ext uri="{FF2B5EF4-FFF2-40B4-BE49-F238E27FC236}">
                <a16:creationId xmlns:a16="http://schemas.microsoft.com/office/drawing/2014/main" id="{2F8602AB-7076-D653-4BCA-306FE6C863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372" y="3149958"/>
            <a:ext cx="372161" cy="372161"/>
          </a:xfrm>
          <a:prstGeom prst="rect">
            <a:avLst/>
          </a:prstGeom>
        </p:spPr>
      </p:pic>
      <p:sp>
        <p:nvSpPr>
          <p:cNvPr id="27" name="Text 21">
            <a:extLst>
              <a:ext uri="{FF2B5EF4-FFF2-40B4-BE49-F238E27FC236}">
                <a16:creationId xmlns:a16="http://schemas.microsoft.com/office/drawing/2014/main" id="{67BD107E-2B7F-59F8-0F9D-C2C9CB7C1626}"/>
              </a:ext>
            </a:extLst>
          </p:cNvPr>
          <p:cNvSpPr/>
          <p:nvPr/>
        </p:nvSpPr>
        <p:spPr>
          <a:xfrm>
            <a:off x="1719072" y="304800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Clais, Sbodio et al., 2024</a:t>
            </a:r>
            <a:endParaRPr lang="en-US" sz="1550" dirty="0">
              <a:solidFill>
                <a:schemeClr val="bg1"/>
              </a:solidFill>
            </a:endParaRPr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90F130BF-DEA8-E93A-4AC6-651014F61E04}"/>
              </a:ext>
            </a:extLst>
          </p:cNvPr>
          <p:cNvSpPr/>
          <p:nvPr/>
        </p:nvSpPr>
        <p:spPr>
          <a:xfrm>
            <a:off x="1719072" y="341376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Reports</a:t>
            </a:r>
            <a:endParaRPr lang="en-US" sz="1150" dirty="0">
              <a:solidFill>
                <a:schemeClr val="bg2"/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A791F683-0A99-5B20-AF78-55EFB7BFEC6D}"/>
              </a:ext>
            </a:extLst>
          </p:cNvPr>
          <p:cNvSpPr/>
          <p:nvPr/>
        </p:nvSpPr>
        <p:spPr>
          <a:xfrm>
            <a:off x="1078992" y="3887879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 F1</a:t>
            </a:r>
            <a:r>
              <a:rPr lang="en-US" sz="140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rules from policy text, </a:t>
            </a:r>
            <a:r>
              <a:rPr lang="en-US" sz="14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F1</a:t>
            </a:r>
            <a:r>
              <a:rPr lang="en-US" sz="140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human-reviewed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0" name="Shape 24">
            <a:extLst>
              <a:ext uri="{FF2B5EF4-FFF2-40B4-BE49-F238E27FC236}">
                <a16:creationId xmlns:a16="http://schemas.microsoft.com/office/drawing/2014/main" id="{D3295038-85E9-6FAB-CD38-2E5B54899434}"/>
              </a:ext>
            </a:extLst>
          </p:cNvPr>
          <p:cNvSpPr/>
          <p:nvPr/>
        </p:nvSpPr>
        <p:spPr>
          <a:xfrm>
            <a:off x="6330006" y="2761778"/>
            <a:ext cx="5191434" cy="2221702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B2540">
                <a:alpha val="12000"/>
              </a:srgbClr>
            </a:outerShdw>
          </a:effectLst>
        </p:spPr>
      </p:sp>
      <p:sp>
        <p:nvSpPr>
          <p:cNvPr id="31" name="Shape 25">
            <a:extLst>
              <a:ext uri="{FF2B5EF4-FFF2-40B4-BE49-F238E27FC236}">
                <a16:creationId xmlns:a16="http://schemas.microsoft.com/office/drawing/2014/main" id="{582FC65C-8F6B-8042-27CE-3B13546048A7}"/>
              </a:ext>
            </a:extLst>
          </p:cNvPr>
          <p:cNvSpPr/>
          <p:nvPr/>
        </p:nvSpPr>
        <p:spPr>
          <a:xfrm>
            <a:off x="6650046" y="3054386"/>
            <a:ext cx="502920" cy="50292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32" name="Image 6" descr="/home/claude/deck/icons/book_white.png">
            <a:extLst>
              <a:ext uri="{FF2B5EF4-FFF2-40B4-BE49-F238E27FC236}">
                <a16:creationId xmlns:a16="http://schemas.microsoft.com/office/drawing/2014/main" id="{4F528C2C-4652-50C3-C33A-DF63E24EA1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426" y="3119766"/>
            <a:ext cx="372161" cy="372161"/>
          </a:xfrm>
          <a:prstGeom prst="rect">
            <a:avLst/>
          </a:prstGeom>
        </p:spPr>
      </p:pic>
      <p:sp>
        <p:nvSpPr>
          <p:cNvPr id="33" name="Text 26">
            <a:extLst>
              <a:ext uri="{FF2B5EF4-FFF2-40B4-BE49-F238E27FC236}">
                <a16:creationId xmlns:a16="http://schemas.microsoft.com/office/drawing/2014/main" id="{57DD2E7C-E9C7-F344-B0D3-FA2B11365667}"/>
              </a:ext>
            </a:extLst>
          </p:cNvPr>
          <p:cNvSpPr/>
          <p:nvPr/>
        </p:nvSpPr>
        <p:spPr>
          <a:xfrm>
            <a:off x="7290126" y="301781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Text2DT, He et al., 2024</a:t>
            </a:r>
            <a:endParaRPr lang="en-US" sz="1550" dirty="0">
              <a:solidFill>
                <a:schemeClr val="bg1"/>
              </a:solidFill>
            </a:endParaRPr>
          </a:p>
        </p:txBody>
      </p:sp>
      <p:sp>
        <p:nvSpPr>
          <p:cNvPr id="34" name="Text 27">
            <a:extLst>
              <a:ext uri="{FF2B5EF4-FFF2-40B4-BE49-F238E27FC236}">
                <a16:creationId xmlns:a16="http://schemas.microsoft.com/office/drawing/2014/main" id="{067E9901-8D23-A54C-85DE-E65F72562F42}"/>
              </a:ext>
            </a:extLst>
          </p:cNvPr>
          <p:cNvSpPr/>
          <p:nvPr/>
        </p:nvSpPr>
        <p:spPr>
          <a:xfrm>
            <a:off x="7290126" y="338357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EMNLP</a:t>
            </a:r>
            <a:endParaRPr lang="en-US" sz="1150" dirty="0">
              <a:solidFill>
                <a:schemeClr val="bg2"/>
              </a:solidFill>
            </a:endParaRPr>
          </a:p>
        </p:txBody>
      </p:sp>
      <p:sp>
        <p:nvSpPr>
          <p:cNvPr id="35" name="Text 28">
            <a:extLst>
              <a:ext uri="{FF2B5EF4-FFF2-40B4-BE49-F238E27FC236}">
                <a16:creationId xmlns:a16="http://schemas.microsoft.com/office/drawing/2014/main" id="{527E2F6B-71CE-10BA-B042-A9D83940777D}"/>
              </a:ext>
            </a:extLst>
          </p:cNvPr>
          <p:cNvSpPr/>
          <p:nvPr/>
        </p:nvSpPr>
        <p:spPr>
          <a:xfrm>
            <a:off x="6650046" y="3785906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models outperform traditional ML 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 at converting medical text into structured decision rules.</a:t>
            </a:r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04EBA033-EBAE-3122-225A-C962F4EE86D3}"/>
              </a:ext>
            </a:extLst>
          </p:cNvPr>
          <p:cNvSpPr/>
          <p:nvPr/>
        </p:nvSpPr>
        <p:spPr>
          <a:xfrm>
            <a:off x="929640" y="5788152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design choices in this POC follow directly from that research: structured rule drafting from policy text, and keeping a human in the loop before any rule is trusted.</a:t>
            </a:r>
            <a:endParaRPr lang="en-US" sz="115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72B7424-8FB3-7049-8CAC-41BB64AAF853}"/>
              </a:ext>
            </a:extLst>
          </p:cNvPr>
          <p:cNvSpPr txBox="1"/>
          <p:nvPr/>
        </p:nvSpPr>
        <p:spPr>
          <a:xfrm>
            <a:off x="758952" y="1628505"/>
            <a:ext cx="9671246" cy="557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i="1" kern="1200" dirty="0">
                <a:solidFill>
                  <a:srgbClr val="5B6B8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Converts written payment and coding policy into a structured, human-approved rule, then lets deterministic code decide every claim with a full audit trail.</a:t>
            </a:r>
            <a:endParaRPr lang="en-US" dirty="0">
              <a:effectLst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kern="0" spc="20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1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How the System Works :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drafts. A human approves. Deterministic Python decides every claim.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691640" y="2743200"/>
            <a:ext cx="1051560" cy="10515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deck/icons/fi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343" y="2879903"/>
            <a:ext cx="778154" cy="7781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39596" y="3959352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39596" y="4361688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converts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text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816352" y="3268980"/>
            <a:ext cx="740664" cy="0"/>
          </a:xfrm>
          <a:prstGeom prst="line">
            <a:avLst/>
          </a:prstGeom>
          <a:noFill/>
          <a:ln w="25400">
            <a:solidFill>
              <a:srgbClr val="B9C4D6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630168" y="2743200"/>
            <a:ext cx="1051560" cy="10515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deck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6871" y="2879903"/>
            <a:ext cx="778154" cy="77815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78124" y="3959352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278124" y="4361688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&amp; evidence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754880" y="3268980"/>
            <a:ext cx="740664" cy="0"/>
          </a:xfrm>
          <a:prstGeom prst="line">
            <a:avLst/>
          </a:prstGeom>
          <a:noFill/>
          <a:ln w="25400">
            <a:solidFill>
              <a:srgbClr val="B9C4D6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5568696" y="2743200"/>
            <a:ext cx="1051560" cy="105156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16" name="Image 2" descr="/home/claude/deck/icons/userChe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5399" y="2879903"/>
            <a:ext cx="778154" cy="77815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16652" y="3959352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5216652" y="4361688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activates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693408" y="3268980"/>
            <a:ext cx="740664" cy="0"/>
          </a:xfrm>
          <a:prstGeom prst="line">
            <a:avLst/>
          </a:prstGeom>
          <a:noFill/>
          <a:ln w="25400">
            <a:solidFill>
              <a:srgbClr val="B9C4D6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7507224" y="2743200"/>
            <a:ext cx="1051560" cy="10515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deck/icons/play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3927" y="2879903"/>
            <a:ext cx="778154" cy="77815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55180" y="3959352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155180" y="4361688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engine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claims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8631936" y="3268980"/>
            <a:ext cx="740664" cy="0"/>
          </a:xfrm>
          <a:prstGeom prst="line">
            <a:avLst/>
          </a:prstGeom>
          <a:noFill/>
          <a:ln w="25400">
            <a:solidFill>
              <a:srgbClr val="B9C4D6"/>
            </a:solidFill>
            <a:prstDash val="solid"/>
            <a:tailEnd type="triangle"/>
          </a:ln>
        </p:spPr>
      </p:sp>
      <p:sp>
        <p:nvSpPr>
          <p:cNvPr id="25" name="Shape 19"/>
          <p:cNvSpPr/>
          <p:nvPr/>
        </p:nvSpPr>
        <p:spPr>
          <a:xfrm>
            <a:off x="9445752" y="2743200"/>
            <a:ext cx="1051560" cy="10515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/home/claude/deck/icons/clipboar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82455" y="2879903"/>
            <a:ext cx="778154" cy="77815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093708" y="3959352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9093708" y="4361688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logged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731520" y="5532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i="1" dirty="0">
              <a:solidFill>
                <a:srgbClr val="1B254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1" name="Text 24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</a:t>
            </a:r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1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LLM Drafts. It Never Decides a Claim.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50749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54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502920" cy="50292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6" name="Image 0" descr="/home/claude/deck/icons/robo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940" y="212278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574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LLM Does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51560" y="2697480"/>
            <a:ext cx="44348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unstructured policy text and proposes a draft rule</a:t>
            </a:r>
            <a:endParaRPr lang="en-US" sz="1300" dirty="0"/>
          </a:p>
          <a:p>
            <a:pPr marL="228600" indent="-2286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 plain-English rule revisions as a patch, never a silent rewrite</a:t>
            </a:r>
            <a:endParaRPr lang="en-US" sz="1300" dirty="0"/>
          </a:p>
          <a:p>
            <a:pPr marL="228600" indent="-2286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sees a real claim, and never produces a decision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3640" y="1783080"/>
            <a:ext cx="50749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54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057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deck/icons/cod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9060" y="2122780"/>
            <a:ext cx="372161" cy="3721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0574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Only Code Decides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83680" y="2697480"/>
            <a:ext cx="44348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the approved rule to every claim in pure Python, no model call</a:t>
            </a:r>
            <a:endParaRPr lang="en-US" sz="1300" dirty="0"/>
          </a:p>
          <a:p>
            <a:pPr marL="228600" indent="-2286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PASS, FAIL, NEEDS_REVIEW, or NOT_APPLICABLE</a:t>
            </a:r>
            <a:endParaRPr lang="en-US" sz="1300" dirty="0"/>
          </a:p>
          <a:p>
            <a:pPr marL="228600" indent="-2286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Activates or changes a rule only after a human clicks Approve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31520" y="516636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i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separation is what makes the system auditable: every claim decision traces to plain Python logic, not a model's output.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31520" y="58064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FIT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1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Fits Cotiviti Specifically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507492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54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2402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deck/icons/hospita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981" y="2313981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301752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Sits upstream of two existing solutions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097280" y="3749040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Policy Management already builds payer-specific claim rules, Coding Validation already pairs clinical/coding logic with expert review. This pilot drafts and validates the rule before either system needs it.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874520"/>
            <a:ext cx="507492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54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22402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deck/icons/shiel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3101" y="2313981"/>
            <a:ext cx="419527" cy="419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29400" y="301752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Incremental, low-risk integration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6629400" y="3749040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as a drafting and review layer with no day-one connection to production rule engines, a controlled way to test reviewer trust before larger investment.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914400" y="15544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FASTER, BETTER-DOCUMENTED PATH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914400" y="196596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914400" y="333756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bounded pilot on one policy area gives Cotiviti a controlled way to measure reviewer trust, traceability, and time saved, all before any larger investment.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737360" y="5349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4882551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Ishan Sharma   |   Cotiviti AI/ML Intern Assessment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</TotalTime>
  <Words>631</Words>
  <Application>Microsoft Office PowerPoint</Application>
  <PresentationFormat>Widescreen</PresentationFormat>
  <Paragraphs>85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Policy-to-Rule Claims Compliance Assistant</dc:title>
  <dc:subject>PptxGenJS Presentation</dc:subject>
  <dc:creator>Ishan Sharma</dc:creator>
  <cp:lastModifiedBy>Ishan Sharma</cp:lastModifiedBy>
  <cp:revision>3</cp:revision>
  <dcterms:created xsi:type="dcterms:W3CDTF">2026-06-30T15:10:13Z</dcterms:created>
  <dcterms:modified xsi:type="dcterms:W3CDTF">2026-06-30T20:27:20Z</dcterms:modified>
</cp:coreProperties>
</file>